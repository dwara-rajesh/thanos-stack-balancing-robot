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ibre Baskerville Italics" charset="1" panose="02000000000000000000"/>
      <p:regular r:id="rId15"/>
    </p:embeddedFont>
    <p:embeddedFont>
      <p:font typeface="TT Commons Pro Bold" charset="1" panose="020B01030301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Add dynamics model picture</a:t>
            </a:r>
          </a:p>
          <a:p>
            <a:r>
              <a:rPr lang="en-US"/>
              <a:t>and explain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Add controller equations, and explain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VAGl84Wb5q4.mp4" Type="http://schemas.openxmlformats.org/officeDocument/2006/relationships/video"/><Relationship Id="rId6" Target="../media/VAGl84Wb5q4.mp4" Type="http://schemas.microsoft.com/office/2007/relationships/media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26.jpeg" Type="http://schemas.openxmlformats.org/officeDocument/2006/relationships/image"/><Relationship Id="rId4" Target="../media/VAGmMSJnzW0.mp4" Type="http://schemas.openxmlformats.org/officeDocument/2006/relationships/video"/><Relationship Id="rId5" Target="../media/VAGmMSJnzW0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https://bibbase.org/network/publication/khalil-k-nonlinearsystems-2002" TargetMode="External" Type="http://schemas.openxmlformats.org/officeDocument/2006/relationships/hyperlink"/><Relationship Id="rId4" Target="https://bibbase.org/network/publication/khalil-k-nonlinearsystems-2002" TargetMode="External" Type="http://schemas.openxmlformats.org/officeDocument/2006/relationships/hyperlink"/><Relationship Id="rId5" Target="https://bibbase.org/network/publication/khalil-k-nonlinearsystems-2002" TargetMode="External" Type="http://schemas.openxmlformats.org/officeDocument/2006/relationships/hyperlink"/><Relationship Id="rId6" Target="https://bibbase.org/network/publication/khalil-k-nonlinearsystems-2002" TargetMode="External" Type="http://schemas.openxmlformats.org/officeDocument/2006/relationships/hyperlink"/><Relationship Id="rId7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88483"/>
            <a:ext cx="16230600" cy="173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04"/>
              </a:lnSpc>
            </a:pPr>
            <a:r>
              <a:rPr lang="en-US" sz="12876" i="true" spc="-257">
                <a:solidFill>
                  <a:srgbClr val="000000"/>
                </a:soli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Thanos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9138" y="9193998"/>
            <a:ext cx="8115300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b="true" sz="26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DWARAKESH RAJESH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27477"/>
            <a:ext cx="16230600" cy="88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3"/>
              </a:lnSpc>
            </a:pPr>
            <a:r>
              <a:rPr lang="en-US" sz="6333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 Stack Balancing Robot</a:t>
            </a:r>
          </a:p>
        </p:txBody>
      </p:sp>
      <p:sp>
        <p:nvSpPr>
          <p:cNvPr name="AutoShape 6" id="6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287D8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49138" y="5654197"/>
            <a:ext cx="12127137" cy="3289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70" indent="-356235" lvl="1">
              <a:lnSpc>
                <a:spcPts val="528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Background</a:t>
            </a:r>
          </a:p>
          <a:p>
            <a:pPr algn="l" marL="712470" indent="-356235" lvl="1">
              <a:lnSpc>
                <a:spcPts val="528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Objective</a:t>
            </a:r>
          </a:p>
          <a:p>
            <a:pPr algn="l" marL="712470" indent="-356235" lvl="1">
              <a:lnSpc>
                <a:spcPts val="528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Robot &amp; Environment Dynamics Modelling</a:t>
            </a:r>
          </a:p>
          <a:p>
            <a:pPr algn="l" marL="712470" indent="-356235" lvl="1">
              <a:lnSpc>
                <a:spcPts val="528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Controller Design</a:t>
            </a:r>
          </a:p>
          <a:p>
            <a:pPr algn="l" marL="712470" indent="-356235" lvl="1">
              <a:lnSpc>
                <a:spcPts val="5280"/>
              </a:lnSpc>
              <a:buFont typeface="Arial"/>
              <a:buChar char="•"/>
            </a:pPr>
            <a:r>
              <a:rPr lang="en-US" b="true" sz="33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Simulation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9138" y="4288533"/>
            <a:ext cx="10608877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Table of Contents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062510" y="1028700"/>
            <a:ext cx="6196790" cy="5321493"/>
          </a:xfrm>
          <a:custGeom>
            <a:avLst/>
            <a:gdLst/>
            <a:ahLst/>
            <a:cxnLst/>
            <a:rect r="r" b="b" t="t" l="l"/>
            <a:pathLst>
              <a:path h="5321493" w="6196790">
                <a:moveTo>
                  <a:pt x="0" y="0"/>
                </a:moveTo>
                <a:lnTo>
                  <a:pt x="6196790" y="0"/>
                </a:lnTo>
                <a:lnTo>
                  <a:pt x="6196790" y="5321493"/>
                </a:lnTo>
                <a:lnTo>
                  <a:pt x="0" y="5321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00707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1296178"/>
            <a:ext cx="16230600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Background: Balancing Robots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4152" y="2794028"/>
            <a:ext cx="16265148" cy="6464272"/>
            <a:chOff x="0" y="0"/>
            <a:chExt cx="21686864" cy="861903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5337137" y="133124"/>
              <a:ext cx="4114800" cy="2057400"/>
              <a:chOff x="0" y="0"/>
              <a:chExt cx="812800" cy="4064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278459"/>
                    </a:lnTo>
                    <a:cubicBezTo>
                      <a:pt x="812800" y="312391"/>
                      <a:pt x="799321" y="344933"/>
                      <a:pt x="775327" y="368927"/>
                    </a:cubicBezTo>
                    <a:cubicBezTo>
                      <a:pt x="751333" y="392921"/>
                      <a:pt x="718791" y="406400"/>
                      <a:pt x="684859" y="406400"/>
                    </a:cubicBezTo>
                    <a:lnTo>
                      <a:pt x="127941" y="406400"/>
                    </a:lnTo>
                    <a:cubicBezTo>
                      <a:pt x="94009" y="406400"/>
                      <a:pt x="61467" y="392921"/>
                      <a:pt x="37473" y="368927"/>
                    </a:cubicBezTo>
                    <a:cubicBezTo>
                      <a:pt x="13479" y="344933"/>
                      <a:pt x="0" y="312391"/>
                      <a:pt x="0" y="2784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19050"/>
                <a:ext cx="812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BALANCING ON ROBOT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5337137" y="4314491"/>
              <a:ext cx="4114800" cy="2057400"/>
              <a:chOff x="0" y="0"/>
              <a:chExt cx="812800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278459"/>
                    </a:lnTo>
                    <a:cubicBezTo>
                      <a:pt x="812800" y="312391"/>
                      <a:pt x="799321" y="344933"/>
                      <a:pt x="775327" y="368927"/>
                    </a:cubicBezTo>
                    <a:cubicBezTo>
                      <a:pt x="751333" y="392921"/>
                      <a:pt x="718791" y="406400"/>
                      <a:pt x="684859" y="406400"/>
                    </a:cubicBezTo>
                    <a:lnTo>
                      <a:pt x="127941" y="406400"/>
                    </a:lnTo>
                    <a:cubicBezTo>
                      <a:pt x="94009" y="406400"/>
                      <a:pt x="61467" y="392921"/>
                      <a:pt x="37473" y="368927"/>
                    </a:cubicBezTo>
                    <a:cubicBezTo>
                      <a:pt x="13479" y="344933"/>
                      <a:pt x="0" y="312391"/>
                      <a:pt x="0" y="2784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19050"/>
                <a:ext cx="812800" cy="387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BALANCING THE ROBOT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2630392"/>
              <a:ext cx="4114800" cy="1684099"/>
              <a:chOff x="0" y="0"/>
              <a:chExt cx="812800" cy="33266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332662"/>
              </a:xfrm>
              <a:custGeom>
                <a:avLst/>
                <a:gdLst/>
                <a:ahLst/>
                <a:cxnLst/>
                <a:rect r="r" b="b" t="t" l="l"/>
                <a:pathLst>
                  <a:path h="332662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204721"/>
                    </a:lnTo>
                    <a:cubicBezTo>
                      <a:pt x="812800" y="238653"/>
                      <a:pt x="799321" y="271195"/>
                      <a:pt x="775327" y="295189"/>
                    </a:cubicBezTo>
                    <a:cubicBezTo>
                      <a:pt x="751333" y="319182"/>
                      <a:pt x="718791" y="332662"/>
                      <a:pt x="684859" y="332662"/>
                    </a:cubicBezTo>
                    <a:lnTo>
                      <a:pt x="127941" y="332662"/>
                    </a:lnTo>
                    <a:cubicBezTo>
                      <a:pt x="94009" y="332662"/>
                      <a:pt x="61467" y="319182"/>
                      <a:pt x="37473" y="295189"/>
                    </a:cubicBezTo>
                    <a:cubicBezTo>
                      <a:pt x="13479" y="271195"/>
                      <a:pt x="0" y="238653"/>
                      <a:pt x="0" y="204721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19050"/>
                <a:ext cx="812800" cy="313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BALANCE</a:t>
                </a:r>
              </a:p>
            </p:txBody>
          </p:sp>
        </p:grpSp>
        <p:sp>
          <p:nvSpPr>
            <p:cNvPr name="AutoShape 17" id="17"/>
            <p:cNvSpPr/>
            <p:nvPr/>
          </p:nvSpPr>
          <p:spPr>
            <a:xfrm flipV="true">
              <a:off x="4114800" y="1268496"/>
              <a:ext cx="1272449" cy="2203946"/>
            </a:xfrm>
            <a:prstGeom prst="line">
              <a:avLst/>
            </a:prstGeom>
            <a:ln cap="flat" w="50800">
              <a:solidFill>
                <a:srgbClr val="007074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8" id="18"/>
            <p:cNvSpPr/>
            <p:nvPr/>
          </p:nvSpPr>
          <p:spPr>
            <a:xfrm>
              <a:off x="4114800" y="3472442"/>
              <a:ext cx="1055767" cy="1828642"/>
            </a:xfrm>
            <a:prstGeom prst="line">
              <a:avLst/>
            </a:prstGeom>
            <a:ln cap="flat" w="50800">
              <a:solidFill>
                <a:srgbClr val="007074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9451937" y="1161824"/>
              <a:ext cx="3160632" cy="0"/>
            </a:xfrm>
            <a:prstGeom prst="line">
              <a:avLst/>
            </a:prstGeom>
            <a:ln cap="flat" w="50800">
              <a:solidFill>
                <a:srgbClr val="007074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0" id="20"/>
            <p:cNvGrpSpPr/>
            <p:nvPr/>
          </p:nvGrpSpPr>
          <p:grpSpPr>
            <a:xfrm rot="0">
              <a:off x="12711598" y="133124"/>
              <a:ext cx="4114800" cy="2031342"/>
              <a:chOff x="0" y="0"/>
              <a:chExt cx="812800" cy="40125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401253"/>
              </a:xfrm>
              <a:custGeom>
                <a:avLst/>
                <a:gdLst/>
                <a:ahLst/>
                <a:cxnLst/>
                <a:rect r="r" b="b" t="t" l="l"/>
                <a:pathLst>
                  <a:path h="401253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273312"/>
                    </a:lnTo>
                    <a:cubicBezTo>
                      <a:pt x="812800" y="307244"/>
                      <a:pt x="799321" y="339786"/>
                      <a:pt x="775327" y="363780"/>
                    </a:cubicBezTo>
                    <a:cubicBezTo>
                      <a:pt x="751333" y="387773"/>
                      <a:pt x="718791" y="401253"/>
                      <a:pt x="684859" y="401253"/>
                    </a:cubicBezTo>
                    <a:lnTo>
                      <a:pt x="127941" y="401253"/>
                    </a:lnTo>
                    <a:cubicBezTo>
                      <a:pt x="94009" y="401253"/>
                      <a:pt x="61467" y="387773"/>
                      <a:pt x="37473" y="363780"/>
                    </a:cubicBezTo>
                    <a:cubicBezTo>
                      <a:pt x="13479" y="339786"/>
                      <a:pt x="0" y="307244"/>
                      <a:pt x="0" y="273312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19050"/>
                <a:ext cx="812800" cy="3822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BALL BALANCING ROBOT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 flipV="true">
              <a:off x="9451937" y="4314491"/>
              <a:ext cx="1672264" cy="1028700"/>
            </a:xfrm>
            <a:prstGeom prst="line">
              <a:avLst/>
            </a:prstGeom>
            <a:ln cap="flat" w="50800">
              <a:solidFill>
                <a:srgbClr val="007074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11124201" y="3472442"/>
              <a:ext cx="4114800" cy="1446419"/>
              <a:chOff x="0" y="0"/>
              <a:chExt cx="812800" cy="28571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285712"/>
              </a:xfrm>
              <a:custGeom>
                <a:avLst/>
                <a:gdLst/>
                <a:ahLst/>
                <a:cxnLst/>
                <a:rect r="r" b="b" t="t" l="l"/>
                <a:pathLst>
                  <a:path h="285712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772"/>
                    </a:lnTo>
                    <a:cubicBezTo>
                      <a:pt x="812800" y="191704"/>
                      <a:pt x="799321" y="224246"/>
                      <a:pt x="775327" y="248239"/>
                    </a:cubicBezTo>
                    <a:cubicBezTo>
                      <a:pt x="751333" y="272233"/>
                      <a:pt x="718791" y="285712"/>
                      <a:pt x="684859" y="285712"/>
                    </a:cubicBezTo>
                    <a:lnTo>
                      <a:pt x="127941" y="285712"/>
                    </a:lnTo>
                    <a:cubicBezTo>
                      <a:pt x="94009" y="285712"/>
                      <a:pt x="61467" y="272233"/>
                      <a:pt x="37473" y="248239"/>
                    </a:cubicBezTo>
                    <a:cubicBezTo>
                      <a:pt x="13479" y="224246"/>
                      <a:pt x="0" y="191704"/>
                      <a:pt x="0" y="157772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19050"/>
                <a:ext cx="812800" cy="2666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SPOT/ATLAS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1124201" y="5152620"/>
              <a:ext cx="4114800" cy="1446419"/>
              <a:chOff x="0" y="0"/>
              <a:chExt cx="812800" cy="28571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285712"/>
              </a:xfrm>
              <a:custGeom>
                <a:avLst/>
                <a:gdLst/>
                <a:ahLst/>
                <a:cxnLst/>
                <a:rect r="r" b="b" t="t" l="l"/>
                <a:pathLst>
                  <a:path h="285712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772"/>
                    </a:lnTo>
                    <a:cubicBezTo>
                      <a:pt x="812800" y="191704"/>
                      <a:pt x="799321" y="224246"/>
                      <a:pt x="775327" y="248239"/>
                    </a:cubicBezTo>
                    <a:cubicBezTo>
                      <a:pt x="751333" y="272233"/>
                      <a:pt x="718791" y="285712"/>
                      <a:pt x="684859" y="285712"/>
                    </a:cubicBezTo>
                    <a:lnTo>
                      <a:pt x="127941" y="285712"/>
                    </a:lnTo>
                    <a:cubicBezTo>
                      <a:pt x="94009" y="285712"/>
                      <a:pt x="61467" y="272233"/>
                      <a:pt x="37473" y="248239"/>
                    </a:cubicBezTo>
                    <a:cubicBezTo>
                      <a:pt x="13479" y="224246"/>
                      <a:pt x="0" y="191704"/>
                      <a:pt x="0" y="157772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19050"/>
                <a:ext cx="812800" cy="2666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BALLBOT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1124201" y="6900187"/>
              <a:ext cx="4114800" cy="1446419"/>
              <a:chOff x="0" y="0"/>
              <a:chExt cx="812800" cy="28571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285712"/>
              </a:xfrm>
              <a:custGeom>
                <a:avLst/>
                <a:gdLst/>
                <a:ahLst/>
                <a:cxnLst/>
                <a:rect r="r" b="b" t="t" l="l"/>
                <a:pathLst>
                  <a:path h="285712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772"/>
                    </a:lnTo>
                    <a:cubicBezTo>
                      <a:pt x="812800" y="191704"/>
                      <a:pt x="799321" y="224246"/>
                      <a:pt x="775327" y="248239"/>
                    </a:cubicBezTo>
                    <a:cubicBezTo>
                      <a:pt x="751333" y="272233"/>
                      <a:pt x="718791" y="285712"/>
                      <a:pt x="684859" y="285712"/>
                    </a:cubicBezTo>
                    <a:lnTo>
                      <a:pt x="127941" y="285712"/>
                    </a:lnTo>
                    <a:cubicBezTo>
                      <a:pt x="94009" y="285712"/>
                      <a:pt x="61467" y="272233"/>
                      <a:pt x="37473" y="248239"/>
                    </a:cubicBezTo>
                    <a:cubicBezTo>
                      <a:pt x="13479" y="224246"/>
                      <a:pt x="0" y="191704"/>
                      <a:pt x="0" y="157772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19050"/>
                <a:ext cx="812800" cy="2666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EVOBOT</a:t>
                </a:r>
              </a:p>
            </p:txBody>
          </p:sp>
        </p:grpSp>
        <p:sp>
          <p:nvSpPr>
            <p:cNvPr name="AutoShape 33" id="33"/>
            <p:cNvSpPr/>
            <p:nvPr/>
          </p:nvSpPr>
          <p:spPr>
            <a:xfrm>
              <a:off x="9451937" y="5343191"/>
              <a:ext cx="1740760" cy="466435"/>
            </a:xfrm>
            <a:prstGeom prst="line">
              <a:avLst/>
            </a:prstGeom>
            <a:ln cap="flat" w="50800">
              <a:solidFill>
                <a:srgbClr val="007074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9451937" y="5343191"/>
              <a:ext cx="1770338" cy="2182622"/>
            </a:xfrm>
            <a:prstGeom prst="line">
              <a:avLst/>
            </a:prstGeom>
            <a:ln cap="flat" w="50800">
              <a:solidFill>
                <a:srgbClr val="007074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35" id="35"/>
            <p:cNvSpPr/>
            <p:nvPr/>
          </p:nvSpPr>
          <p:spPr>
            <a:xfrm flipH="false" flipV="false" rot="-10800000">
              <a:off x="15221384" y="3132630"/>
              <a:ext cx="5486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0"/>
                  </a:lnTo>
                  <a:lnTo>
                    <a:pt x="0" y="548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6" id="36"/>
            <p:cNvGrpSpPr/>
            <p:nvPr/>
          </p:nvGrpSpPr>
          <p:grpSpPr>
            <a:xfrm rot="0">
              <a:off x="15921355" y="5033780"/>
              <a:ext cx="4114800" cy="1684099"/>
              <a:chOff x="0" y="0"/>
              <a:chExt cx="812800" cy="332662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332662"/>
              </a:xfrm>
              <a:custGeom>
                <a:avLst/>
                <a:gdLst/>
                <a:ahLst/>
                <a:cxnLst/>
                <a:rect r="r" b="b" t="t" l="l"/>
                <a:pathLst>
                  <a:path h="332662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204721"/>
                    </a:lnTo>
                    <a:cubicBezTo>
                      <a:pt x="812800" y="238653"/>
                      <a:pt x="799321" y="271195"/>
                      <a:pt x="775327" y="295189"/>
                    </a:cubicBezTo>
                    <a:cubicBezTo>
                      <a:pt x="751333" y="319182"/>
                      <a:pt x="718791" y="332662"/>
                      <a:pt x="684859" y="332662"/>
                    </a:cubicBezTo>
                    <a:lnTo>
                      <a:pt x="127941" y="332662"/>
                    </a:lnTo>
                    <a:cubicBezTo>
                      <a:pt x="94009" y="332662"/>
                      <a:pt x="61467" y="319182"/>
                      <a:pt x="37473" y="295189"/>
                    </a:cubicBezTo>
                    <a:cubicBezTo>
                      <a:pt x="13479" y="271195"/>
                      <a:pt x="0" y="238653"/>
                      <a:pt x="0" y="204721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19050"/>
                <a:ext cx="812800" cy="313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SELF-BALANCE</a:t>
                </a: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7572064" y="306745"/>
              <a:ext cx="4114800" cy="1684099"/>
              <a:chOff x="0" y="0"/>
              <a:chExt cx="812800" cy="332662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332662"/>
              </a:xfrm>
              <a:custGeom>
                <a:avLst/>
                <a:gdLst/>
                <a:ahLst/>
                <a:cxnLst/>
                <a:rect r="r" b="b" t="t" l="l"/>
                <a:pathLst>
                  <a:path h="332662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204721"/>
                    </a:lnTo>
                    <a:cubicBezTo>
                      <a:pt x="812800" y="238653"/>
                      <a:pt x="799321" y="271195"/>
                      <a:pt x="775327" y="295189"/>
                    </a:cubicBezTo>
                    <a:cubicBezTo>
                      <a:pt x="751333" y="319182"/>
                      <a:pt x="718791" y="332662"/>
                      <a:pt x="684859" y="332662"/>
                    </a:cubicBezTo>
                    <a:lnTo>
                      <a:pt x="127941" y="332662"/>
                    </a:lnTo>
                    <a:cubicBezTo>
                      <a:pt x="94009" y="332662"/>
                      <a:pt x="61467" y="319182"/>
                      <a:pt x="37473" y="295189"/>
                    </a:cubicBezTo>
                    <a:cubicBezTo>
                      <a:pt x="13479" y="271195"/>
                      <a:pt x="0" y="238653"/>
                      <a:pt x="0" y="204721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007074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19050"/>
                <a:ext cx="812800" cy="313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OBJECT BALANCE</a:t>
                </a:r>
              </a:p>
              <a:p>
                <a:pPr algn="ctr">
                  <a:lnSpc>
                    <a:spcPts val="2120"/>
                  </a:lnSpc>
                </a:pPr>
                <a:r>
                  <a:rPr lang="en-US" b="true" sz="2000">
                    <a:solidFill>
                      <a:srgbClr val="000000"/>
                    </a:solidFill>
                    <a:latin typeface="TT Commons Pro Bold"/>
                    <a:ea typeface="TT Commons Pro Bold"/>
                    <a:cs typeface="TT Commons Pro Bold"/>
                    <a:sym typeface="TT Commons Pro Bold"/>
                  </a:rPr>
                  <a:t>(OUR FOCUS)</a:t>
                </a: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-10800000">
              <a:off x="17083049" y="0"/>
              <a:ext cx="232365" cy="2323647"/>
            </a:xfrm>
            <a:custGeom>
              <a:avLst/>
              <a:gdLst/>
              <a:ahLst/>
              <a:cxnLst/>
              <a:rect r="r" b="b" t="t" l="l"/>
              <a:pathLst>
                <a:path h="2323647" w="232365">
                  <a:moveTo>
                    <a:pt x="0" y="0"/>
                  </a:moveTo>
                  <a:lnTo>
                    <a:pt x="232364" y="0"/>
                  </a:lnTo>
                  <a:lnTo>
                    <a:pt x="232364" y="2323647"/>
                  </a:lnTo>
                  <a:lnTo>
                    <a:pt x="0" y="232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7B7A03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37577" y="3990209"/>
            <a:ext cx="6408726" cy="3604908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1296178"/>
            <a:ext cx="10608877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Objective: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0720" y="2993906"/>
            <a:ext cx="10666857" cy="5986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If we can balance a ball, we can balance a box too. What about boxes, a tower of boxes? 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82050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7553" y="2084840"/>
            <a:ext cx="2937224" cy="582664"/>
          </a:xfrm>
          <a:custGeom>
            <a:avLst/>
            <a:gdLst/>
            <a:ahLst/>
            <a:cxnLst/>
            <a:rect r="r" b="b" t="t" l="l"/>
            <a:pathLst>
              <a:path h="582664" w="2937224">
                <a:moveTo>
                  <a:pt x="0" y="0"/>
                </a:moveTo>
                <a:lnTo>
                  <a:pt x="2937225" y="0"/>
                </a:lnTo>
                <a:lnTo>
                  <a:pt x="2937225" y="582663"/>
                </a:lnTo>
                <a:lnTo>
                  <a:pt x="0" y="582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7355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7553" y="2886578"/>
            <a:ext cx="2937224" cy="1010538"/>
          </a:xfrm>
          <a:custGeom>
            <a:avLst/>
            <a:gdLst/>
            <a:ahLst/>
            <a:cxnLst/>
            <a:rect r="r" b="b" t="t" l="l"/>
            <a:pathLst>
              <a:path h="1010538" w="2937224">
                <a:moveTo>
                  <a:pt x="0" y="0"/>
                </a:moveTo>
                <a:lnTo>
                  <a:pt x="2937225" y="0"/>
                </a:lnTo>
                <a:lnTo>
                  <a:pt x="2937225" y="1010538"/>
                </a:lnTo>
                <a:lnTo>
                  <a:pt x="0" y="1010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3043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7553" y="4116191"/>
            <a:ext cx="8511833" cy="468151"/>
          </a:xfrm>
          <a:custGeom>
            <a:avLst/>
            <a:gdLst/>
            <a:ahLst/>
            <a:cxnLst/>
            <a:rect r="r" b="b" t="t" l="l"/>
            <a:pathLst>
              <a:path h="468151" w="8511833">
                <a:moveTo>
                  <a:pt x="0" y="0"/>
                </a:moveTo>
                <a:lnTo>
                  <a:pt x="8511834" y="0"/>
                </a:lnTo>
                <a:lnTo>
                  <a:pt x="8511834" y="468151"/>
                </a:lnTo>
                <a:lnTo>
                  <a:pt x="0" y="4681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7553" y="4952669"/>
            <a:ext cx="8511833" cy="619794"/>
          </a:xfrm>
          <a:custGeom>
            <a:avLst/>
            <a:gdLst/>
            <a:ahLst/>
            <a:cxnLst/>
            <a:rect r="r" b="b" t="t" l="l"/>
            <a:pathLst>
              <a:path h="619794" w="8511833">
                <a:moveTo>
                  <a:pt x="0" y="0"/>
                </a:moveTo>
                <a:lnTo>
                  <a:pt x="8511834" y="0"/>
                </a:lnTo>
                <a:lnTo>
                  <a:pt x="8511834" y="619793"/>
                </a:lnTo>
                <a:lnTo>
                  <a:pt x="0" y="6197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7553" y="5791537"/>
            <a:ext cx="8511833" cy="948339"/>
          </a:xfrm>
          <a:custGeom>
            <a:avLst/>
            <a:gdLst/>
            <a:ahLst/>
            <a:cxnLst/>
            <a:rect r="r" b="b" t="t" l="l"/>
            <a:pathLst>
              <a:path h="948339" w="8511833">
                <a:moveTo>
                  <a:pt x="0" y="0"/>
                </a:moveTo>
                <a:lnTo>
                  <a:pt x="8511834" y="0"/>
                </a:lnTo>
                <a:lnTo>
                  <a:pt x="8511834" y="948339"/>
                </a:lnTo>
                <a:lnTo>
                  <a:pt x="0" y="948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7938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7553" y="6953608"/>
            <a:ext cx="5680378" cy="1248552"/>
          </a:xfrm>
          <a:custGeom>
            <a:avLst/>
            <a:gdLst/>
            <a:ahLst/>
            <a:cxnLst/>
            <a:rect r="r" b="b" t="t" l="l"/>
            <a:pathLst>
              <a:path h="1248552" w="5680378">
                <a:moveTo>
                  <a:pt x="0" y="0"/>
                </a:moveTo>
                <a:lnTo>
                  <a:pt x="5680379" y="0"/>
                </a:lnTo>
                <a:lnTo>
                  <a:pt x="5680379" y="1248552"/>
                </a:lnTo>
                <a:lnTo>
                  <a:pt x="0" y="1248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854" t="-112209" r="-23992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144000" y="2915972"/>
            <a:ext cx="8787220" cy="5980605"/>
            <a:chOff x="0" y="0"/>
            <a:chExt cx="11716293" cy="797414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114300"/>
              <a:ext cx="11716293" cy="71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74"/>
                </a:lnSpc>
              </a:pPr>
              <a:r>
                <a:rPr lang="en-US" b="true" sz="2983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Robot and Environment Dynamics Modelling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805006"/>
              <a:ext cx="11716293" cy="71691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93"/>
                </a:lnSpc>
              </a:pPr>
              <a:r>
                <a:rPr lang="en-US" sz="1808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Robot dynamics</a:t>
              </a:r>
            </a:p>
            <a:p>
              <a:pPr algn="l" marL="390438" indent="-195219" lvl="1">
                <a:lnSpc>
                  <a:spcPts val="2893"/>
                </a:lnSpc>
                <a:buFont typeface="Arial"/>
                <a:buChar char="•"/>
              </a:pPr>
              <a:r>
                <a:rPr lang="en-US" b="true" sz="1808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Limitation: A tilting plate that tilts about the Y axis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Mass (M)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Tilt angle (theta) 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Motor Torque (tau) - controlled input</a:t>
              </a:r>
            </a:p>
            <a:p>
              <a:pPr algn="l">
                <a:lnSpc>
                  <a:spcPts val="2893"/>
                </a:lnSpc>
              </a:pPr>
              <a:r>
                <a:rPr lang="en-US" b="true" sz="1808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Environmental dynamics</a:t>
              </a:r>
            </a:p>
            <a:p>
              <a:pPr algn="l" marL="390438" indent="-195219" lvl="1">
                <a:lnSpc>
                  <a:spcPts val="2893"/>
                </a:lnSpc>
                <a:buFont typeface="Arial"/>
                <a:buChar char="•"/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Assumption: The wind only blows horizontally (as seen in the game before)</a:t>
              </a:r>
            </a:p>
            <a:p>
              <a:pPr algn="l" marL="390438" indent="-195219" lvl="1">
                <a:lnSpc>
                  <a:spcPts val="2893"/>
                </a:lnSpc>
                <a:buFont typeface="Arial"/>
                <a:buChar char="•"/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Dynamics to consider: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Friction between the boxes (static and kinetic friction), 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Wind force,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Mass of boxes (m_i)</a:t>
              </a:r>
            </a:p>
            <a:p>
              <a:pPr algn="l" marL="780877" indent="-260292" lvl="2">
                <a:lnSpc>
                  <a:spcPts val="2893"/>
                </a:lnSpc>
                <a:buFont typeface="Arial"/>
                <a:buChar char="⚬"/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Gravity (g) = 9.81</a:t>
              </a:r>
            </a:p>
            <a:p>
              <a:pPr algn="l">
                <a:lnSpc>
                  <a:spcPts val="2893"/>
                </a:lnSpc>
              </a:pPr>
            </a:p>
            <a:p>
              <a:pPr algn="l">
                <a:lnSpc>
                  <a:spcPts val="2893"/>
                </a:lnSpc>
              </a:pPr>
              <a:r>
                <a:rPr lang="en-US" b="true" sz="1808" u="non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Can this system achieve stability? Global asymptotic stability at origin. (Shown in image)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00472" y="9563100"/>
            <a:ext cx="382299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*ALL VARIABLES ARE IN SI UNITS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-7101"/>
            <a:ext cx="9144000" cy="278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Consider two ways to model the environment:</a:t>
            </a:r>
          </a:p>
          <a:p>
            <a:pPr algn="l" marL="431805" indent="-215903" lvl="1">
              <a:lnSpc>
                <a:spcPts val="32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The whole stack is treated as one object → Approximation </a:t>
            </a:r>
          </a:p>
          <a:p>
            <a:pPr algn="l" marL="863611" indent="-287870" lvl="2">
              <a:lnSpc>
                <a:spcPts val="3200"/>
              </a:lnSpc>
              <a:buFont typeface="Arial"/>
              <a:buChar char="⚬"/>
            </a:pPr>
            <a:r>
              <a:rPr lang="en-US" b="true" sz="2000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One link → Inverted Pendulum Problem</a:t>
            </a:r>
          </a:p>
          <a:p>
            <a:pPr algn="l" marL="431805" indent="-215903" lvl="1">
              <a:lnSpc>
                <a:spcPts val="3200"/>
              </a:lnSpc>
              <a:buFont typeface="Arial"/>
              <a:buChar char="•"/>
            </a:pPr>
            <a:r>
              <a:rPr lang="en-US" b="true" sz="2000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Each box on stack has its own dynamics → Truth</a:t>
            </a:r>
          </a:p>
          <a:p>
            <a:pPr algn="l" marL="863611" indent="-287870" lvl="2">
              <a:lnSpc>
                <a:spcPts val="3200"/>
              </a:lnSpc>
              <a:buFont typeface="Arial"/>
              <a:buChar char="⚬"/>
            </a:pPr>
            <a:r>
              <a:rPr lang="en-US" b="true" sz="2000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Each box is affected by the wind force differently due to dimensions, mass and friction coefficients.</a:t>
            </a:r>
          </a:p>
          <a:p>
            <a:pPr algn="l" marL="863611" indent="-287870" lvl="2">
              <a:lnSpc>
                <a:spcPts val="3200"/>
              </a:lnSpc>
              <a:buFont typeface="Arial"/>
              <a:buChar char="⚬"/>
            </a:pPr>
            <a:r>
              <a:rPr lang="en-US" b="true" sz="2000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So multiple links, one actuator → Underactuated Control Problem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82050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513051" y="2390859"/>
            <a:ext cx="5261897" cy="5882801"/>
          </a:xfrm>
          <a:custGeom>
            <a:avLst/>
            <a:gdLst/>
            <a:ahLst/>
            <a:cxnLst/>
            <a:rect r="r" b="b" t="t" l="l"/>
            <a:pathLst>
              <a:path h="5882801" w="5261897">
                <a:moveTo>
                  <a:pt x="0" y="0"/>
                </a:moveTo>
                <a:lnTo>
                  <a:pt x="5261898" y="0"/>
                </a:lnTo>
                <a:lnTo>
                  <a:pt x="5261898" y="5882801"/>
                </a:lnTo>
                <a:lnTo>
                  <a:pt x="0" y="5882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54955" y="8843645"/>
            <a:ext cx="4378089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0"/>
              </a:lnSpc>
            </a:pPr>
            <a:r>
              <a:rPr lang="en-US" b="true" sz="26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JO</a:t>
            </a:r>
            <a:r>
              <a:rPr lang="en-US" b="true" sz="26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SEPH-LOUIS LAGRANGE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3327" y="581251"/>
            <a:ext cx="11484499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Lagrangian Dynamics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82050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48585" y="1996174"/>
            <a:ext cx="8795415" cy="1192288"/>
          </a:xfrm>
          <a:custGeom>
            <a:avLst/>
            <a:gdLst/>
            <a:ahLst/>
            <a:cxnLst/>
            <a:rect r="r" b="b" t="t" l="l"/>
            <a:pathLst>
              <a:path h="1192288" w="8795415">
                <a:moveTo>
                  <a:pt x="0" y="0"/>
                </a:moveTo>
                <a:lnTo>
                  <a:pt x="8795415" y="0"/>
                </a:lnTo>
                <a:lnTo>
                  <a:pt x="8795415" y="1192288"/>
                </a:lnTo>
                <a:lnTo>
                  <a:pt x="0" y="1192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70" r="0" b="-256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3867" y="7786156"/>
            <a:ext cx="8644851" cy="1157647"/>
          </a:xfrm>
          <a:custGeom>
            <a:avLst/>
            <a:gdLst/>
            <a:ahLst/>
            <a:cxnLst/>
            <a:rect r="r" b="b" t="t" l="l"/>
            <a:pathLst>
              <a:path h="1157647" w="8644851">
                <a:moveTo>
                  <a:pt x="0" y="0"/>
                </a:moveTo>
                <a:lnTo>
                  <a:pt x="8644851" y="0"/>
                </a:lnTo>
                <a:lnTo>
                  <a:pt x="8644851" y="1157647"/>
                </a:lnTo>
                <a:lnTo>
                  <a:pt x="0" y="11576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93" r="0" b="-89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8585" y="3646278"/>
            <a:ext cx="4322426" cy="1226213"/>
          </a:xfrm>
          <a:custGeom>
            <a:avLst/>
            <a:gdLst/>
            <a:ahLst/>
            <a:cxnLst/>
            <a:rect r="r" b="b" t="t" l="l"/>
            <a:pathLst>
              <a:path h="1226213" w="4322426">
                <a:moveTo>
                  <a:pt x="0" y="0"/>
                </a:moveTo>
                <a:lnTo>
                  <a:pt x="4322425" y="0"/>
                </a:lnTo>
                <a:lnTo>
                  <a:pt x="4322425" y="1226214"/>
                </a:lnTo>
                <a:lnTo>
                  <a:pt x="0" y="1226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029" t="0" r="-12494" b="-20259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21574" y="3483737"/>
            <a:ext cx="4322426" cy="1551296"/>
          </a:xfrm>
          <a:custGeom>
            <a:avLst/>
            <a:gdLst/>
            <a:ahLst/>
            <a:cxnLst/>
            <a:rect r="r" b="b" t="t" l="l"/>
            <a:pathLst>
              <a:path h="1551296" w="4322426">
                <a:moveTo>
                  <a:pt x="0" y="0"/>
                </a:moveTo>
                <a:lnTo>
                  <a:pt x="4322426" y="0"/>
                </a:lnTo>
                <a:lnTo>
                  <a:pt x="4322426" y="1551296"/>
                </a:lnTo>
                <a:lnTo>
                  <a:pt x="0" y="1551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4666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58582" y="5246392"/>
            <a:ext cx="6211555" cy="1217465"/>
          </a:xfrm>
          <a:custGeom>
            <a:avLst/>
            <a:gdLst/>
            <a:ahLst/>
            <a:cxnLst/>
            <a:rect r="r" b="b" t="t" l="l"/>
            <a:pathLst>
              <a:path h="1217465" w="6211555">
                <a:moveTo>
                  <a:pt x="0" y="0"/>
                </a:moveTo>
                <a:lnTo>
                  <a:pt x="6211555" y="0"/>
                </a:lnTo>
                <a:lnTo>
                  <a:pt x="6211555" y="1217465"/>
                </a:lnTo>
                <a:lnTo>
                  <a:pt x="0" y="12174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48585" y="5198618"/>
            <a:ext cx="6983704" cy="1313012"/>
          </a:xfrm>
          <a:custGeom>
            <a:avLst/>
            <a:gdLst/>
            <a:ahLst/>
            <a:cxnLst/>
            <a:rect r="r" b="b" t="t" l="l"/>
            <a:pathLst>
              <a:path h="1313012" w="6983704">
                <a:moveTo>
                  <a:pt x="0" y="0"/>
                </a:moveTo>
                <a:lnTo>
                  <a:pt x="6983703" y="0"/>
                </a:lnTo>
                <a:lnTo>
                  <a:pt x="6983703" y="1313012"/>
                </a:lnTo>
                <a:lnTo>
                  <a:pt x="0" y="1313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87330" y="7759257"/>
            <a:ext cx="7071970" cy="1141538"/>
          </a:xfrm>
          <a:custGeom>
            <a:avLst/>
            <a:gdLst/>
            <a:ahLst/>
            <a:cxnLst/>
            <a:rect r="r" b="b" t="t" l="l"/>
            <a:pathLst>
              <a:path h="1141538" w="7071970">
                <a:moveTo>
                  <a:pt x="0" y="0"/>
                </a:moveTo>
                <a:lnTo>
                  <a:pt x="7071970" y="0"/>
                </a:lnTo>
                <a:lnTo>
                  <a:pt x="7071970" y="1141538"/>
                </a:lnTo>
                <a:lnTo>
                  <a:pt x="0" y="11415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00472" y="9563100"/>
            <a:ext cx="382299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*ALL VARIABLES ARE IN SI UNITS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8585" y="480326"/>
            <a:ext cx="11986573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Lagrangian Equations: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08812" y="2460238"/>
            <a:ext cx="2826346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PLATE LAGRANGIAN EQ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79530" y="4127305"/>
            <a:ext cx="308490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BOX SLIDE &amp; WIND FORCE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45156" y="5723044"/>
            <a:ext cx="1300559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BOX PITCH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91085" y="5723044"/>
            <a:ext cx="242044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COMPLEMENTARITY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80024" y="7166565"/>
            <a:ext cx="448310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COMPLETE LAGRANGIAN EQUATIONS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25050" y="7317695"/>
            <a:ext cx="2396530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STATE-SPACE FORM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580B6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279589" y="1554073"/>
            <a:ext cx="5361185" cy="1669264"/>
          </a:xfrm>
          <a:custGeom>
            <a:avLst/>
            <a:gdLst/>
            <a:ahLst/>
            <a:cxnLst/>
            <a:rect r="r" b="b" t="t" l="l"/>
            <a:pathLst>
              <a:path h="1669264" w="5361185">
                <a:moveTo>
                  <a:pt x="0" y="0"/>
                </a:moveTo>
                <a:lnTo>
                  <a:pt x="5361186" y="0"/>
                </a:lnTo>
                <a:lnTo>
                  <a:pt x="5361186" y="1669264"/>
                </a:lnTo>
                <a:lnTo>
                  <a:pt x="0" y="1669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" r="0" b="-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79589" y="3702678"/>
            <a:ext cx="5361185" cy="934771"/>
          </a:xfrm>
          <a:custGeom>
            <a:avLst/>
            <a:gdLst/>
            <a:ahLst/>
            <a:cxnLst/>
            <a:rect r="r" b="b" t="t" l="l"/>
            <a:pathLst>
              <a:path h="934771" w="5361185">
                <a:moveTo>
                  <a:pt x="0" y="0"/>
                </a:moveTo>
                <a:lnTo>
                  <a:pt x="5361186" y="0"/>
                </a:lnTo>
                <a:lnTo>
                  <a:pt x="5361186" y="934770"/>
                </a:lnTo>
                <a:lnTo>
                  <a:pt x="0" y="934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79589" y="5143500"/>
            <a:ext cx="5488908" cy="1486972"/>
          </a:xfrm>
          <a:custGeom>
            <a:avLst/>
            <a:gdLst/>
            <a:ahLst/>
            <a:cxnLst/>
            <a:rect r="r" b="b" t="t" l="l"/>
            <a:pathLst>
              <a:path h="1486972" w="5488908">
                <a:moveTo>
                  <a:pt x="0" y="0"/>
                </a:moveTo>
                <a:lnTo>
                  <a:pt x="5488909" y="0"/>
                </a:lnTo>
                <a:lnTo>
                  <a:pt x="5488909" y="1486972"/>
                </a:lnTo>
                <a:lnTo>
                  <a:pt x="0" y="14869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83" t="-14471" r="-4965" b="-482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228671" y="7686456"/>
            <a:ext cx="10336377" cy="665600"/>
          </a:xfrm>
          <a:custGeom>
            <a:avLst/>
            <a:gdLst/>
            <a:ahLst/>
            <a:cxnLst/>
            <a:rect r="r" b="b" t="t" l="l"/>
            <a:pathLst>
              <a:path h="665600" w="10336377">
                <a:moveTo>
                  <a:pt x="0" y="0"/>
                </a:moveTo>
                <a:lnTo>
                  <a:pt x="10336377" y="0"/>
                </a:lnTo>
                <a:lnTo>
                  <a:pt x="10336377" y="665600"/>
                </a:lnTo>
                <a:lnTo>
                  <a:pt x="0" y="665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362286" y="1367454"/>
            <a:ext cx="7897014" cy="5814177"/>
            <a:chOff x="0" y="0"/>
            <a:chExt cx="10529352" cy="775223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23825"/>
              <a:ext cx="10529352" cy="789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80"/>
                </a:lnSpc>
              </a:pPr>
              <a:r>
                <a:rPr lang="en-US" b="true" sz="33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Controller Design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867780"/>
              <a:ext cx="10529352" cy="6884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 controllers &amp; initial stabilizer in play:</a:t>
              </a:r>
            </a:p>
            <a:p>
              <a:pPr algn="l" marL="431807" indent="-215904" lvl="1">
                <a:lnSpc>
                  <a:spcPts val="32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Gravity Feedforward: </a:t>
              </a:r>
            </a:p>
            <a:p>
              <a:pPr algn="l" marL="863614" indent="-287871" lvl="2">
                <a:lnSpc>
                  <a:spcPts val="3200"/>
                </a:lnSpc>
                <a:buFont typeface="Arial"/>
                <a:buChar char="⚬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To account for any gravitational torque/moment due to initial misalignment of boxes on stack.</a:t>
              </a:r>
            </a:p>
            <a:p>
              <a:pPr algn="l" marL="431807" indent="-215904" lvl="1">
                <a:lnSpc>
                  <a:spcPts val="32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Linear Controller : PD</a:t>
              </a:r>
            </a:p>
            <a:p>
              <a:pPr algn="l" marL="863614" indent="-287871" lvl="2">
                <a:lnSpc>
                  <a:spcPts val="3200"/>
                </a:lnSpc>
                <a:buFont typeface="Arial"/>
                <a:buChar char="⚬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To maintain stability under small tilts/perturbations </a:t>
              </a:r>
            </a:p>
            <a:p>
              <a:pPr algn="l" marL="1295421" indent="-323855" lvl="3">
                <a:lnSpc>
                  <a:spcPts val="3200"/>
                </a:lnSpc>
                <a:buFont typeface="Arial"/>
                <a:buChar char="￭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Wind force &lt; static friction → Region of Attraction</a:t>
              </a:r>
            </a:p>
            <a:p>
              <a:pPr algn="l" marL="431807" indent="-215904" lvl="1">
                <a:lnSpc>
                  <a:spcPts val="32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Non-linear Controller : CLF-QP</a:t>
              </a:r>
            </a:p>
            <a:p>
              <a:pPr algn="l" marL="863614" indent="-287871" lvl="2">
                <a:lnSpc>
                  <a:spcPts val="3200"/>
                </a:lnSpc>
                <a:buFont typeface="Arial"/>
                <a:buChar char="⚬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To maintain stability on tilts past the Region of Attraction</a:t>
              </a:r>
            </a:p>
            <a:p>
              <a:pPr algn="l" marL="1295421" indent="-323855" lvl="3">
                <a:lnSpc>
                  <a:spcPts val="3200"/>
                </a:lnSpc>
                <a:buFont typeface="Arial"/>
                <a:buChar char="￭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Wind force &gt; static force →</a:t>
              </a: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slippage occurs/slippage about to occur and eventually topple</a:t>
              </a:r>
            </a:p>
            <a:p>
              <a:pPr algn="l">
                <a:lnSpc>
                  <a:spcPts val="3200"/>
                </a:lnSpc>
              </a:pPr>
            </a:p>
            <a:p>
              <a:pPr algn="l" marL="431807" indent="-215904" lvl="1">
                <a:lnSpc>
                  <a:spcPts val="32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Objective →</a:t>
              </a: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Avoid topple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0472" y="9563100"/>
            <a:ext cx="382299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*ALL VARIABLES ARE IN SI UNITS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804209"/>
            </a:solidFill>
          </p:spPr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3209356" y="2686595"/>
            <a:ext cx="12269573" cy="682188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1296178"/>
            <a:ext cx="10608877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Simulation: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9270" b="-64958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0" y="-28575"/>
            <a:ext cx="18288000" cy="0"/>
          </a:xfrm>
          <a:prstGeom prst="line">
            <a:avLst/>
          </a:prstGeom>
          <a:ln cap="flat" w="85725">
            <a:solidFill>
              <a:srgbClr val="0070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-1018602">
            <a:off x="8039333" y="8905548"/>
            <a:ext cx="13981343" cy="6487382"/>
            <a:chOff x="0" y="0"/>
            <a:chExt cx="6233160" cy="28922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33160" cy="2893156"/>
            </a:xfrm>
            <a:custGeom>
              <a:avLst/>
              <a:gdLst/>
              <a:ahLst/>
              <a:cxnLst/>
              <a:rect r="r" b="b" t="t" l="l"/>
              <a:pathLst>
                <a:path h="2893156" w="6233160">
                  <a:moveTo>
                    <a:pt x="5897880" y="568960"/>
                  </a:moveTo>
                  <a:lnTo>
                    <a:pt x="3451860" y="30480"/>
                  </a:lnTo>
                  <a:cubicBezTo>
                    <a:pt x="3267710" y="-10160"/>
                    <a:pt x="2965450" y="-10160"/>
                    <a:pt x="2781300" y="30480"/>
                  </a:cubicBezTo>
                  <a:lnTo>
                    <a:pt x="335280" y="568960"/>
                  </a:lnTo>
                  <a:cubicBezTo>
                    <a:pt x="151130" y="609600"/>
                    <a:pt x="0" y="797560"/>
                    <a:pt x="0" y="986790"/>
                  </a:cubicBezTo>
                  <a:lnTo>
                    <a:pt x="0" y="1883824"/>
                  </a:lnTo>
                  <a:cubicBezTo>
                    <a:pt x="0" y="2076864"/>
                    <a:pt x="151130" y="2268634"/>
                    <a:pt x="335280" y="2310544"/>
                  </a:cubicBezTo>
                  <a:lnTo>
                    <a:pt x="2781300" y="2861724"/>
                  </a:lnTo>
                  <a:cubicBezTo>
                    <a:pt x="2965450" y="2903634"/>
                    <a:pt x="3267710" y="2903634"/>
                    <a:pt x="3451860" y="2861724"/>
                  </a:cubicBezTo>
                  <a:lnTo>
                    <a:pt x="5897880" y="2310544"/>
                  </a:lnTo>
                  <a:cubicBezTo>
                    <a:pt x="6082030" y="2268634"/>
                    <a:pt x="6233160" y="2076864"/>
                    <a:pt x="6233160" y="1883824"/>
                  </a:cubicBezTo>
                  <a:lnTo>
                    <a:pt x="6233160" y="986790"/>
                  </a:lnTo>
                  <a:cubicBezTo>
                    <a:pt x="6233160" y="797560"/>
                    <a:pt x="6082030" y="609600"/>
                    <a:pt x="5897880" y="5689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05300" y="3630753"/>
            <a:ext cx="3276600" cy="5984873"/>
            <a:chOff x="0" y="0"/>
            <a:chExt cx="4368800" cy="7979831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095375"/>
              <a:ext cx="4368800" cy="6884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A. D. Am</a:t>
              </a: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es, K. Galloway, K. Sreenath and J. W. Grizzle, "Rapidly Exponentially Stabilizing Control Lyapunov Functions and Hybrid Zero Dynamics," in IEEE Transactions on Automatic Control, vol. 59, no. 4, pp. 876-891, April 2014, doi: 10.1109/TAC.2014.2299335.</a:t>
              </a:r>
            </a:p>
            <a:p>
              <a:pPr algn="l">
                <a:lnSpc>
                  <a:spcPts val="3200"/>
                </a:lnSpc>
              </a:pPr>
            </a:p>
            <a:p>
              <a:pPr algn="l">
                <a:lnSpc>
                  <a:spcPts val="3200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0"/>
              <a:ext cx="3943467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Reference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09575"/>
              <a:ext cx="3943467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1296178"/>
            <a:ext cx="10608877" cy="122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75"/>
              </a:lnSpc>
            </a:pPr>
            <a:r>
              <a:rPr lang="en-US" sz="8844" b="tru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References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630753"/>
            <a:ext cx="3086100" cy="4784723"/>
            <a:chOff x="0" y="0"/>
            <a:chExt cx="4114800" cy="6379631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095375"/>
              <a:ext cx="4114800" cy="52842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Naga</a:t>
              </a: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rajan, Umashankar &amp; Kantor, George &amp; Hollis, Ralph. (2013). The ballbot: An omnidirectional balancing mobile robot. The International Journal of Robotics Research. 33. 917-930. 10.1177/0278364913509126.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0"/>
              <a:ext cx="371419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Reference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409575"/>
              <a:ext cx="3714196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1</a:t>
              </a: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581900" y="3630753"/>
            <a:ext cx="3086100" cy="2384423"/>
            <a:chOff x="0" y="0"/>
            <a:chExt cx="4114800" cy="3179231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095375"/>
              <a:ext cx="4114800" cy="2083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b="true" sz="2000" u="sng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  <a:hlinkClick r:id="rId3" tooltip="https://bibbase.org/network/publication/khalil-k-nonlinearsystems-2002"/>
                </a:rPr>
                <a:t>N</a:t>
              </a:r>
              <a:r>
                <a:rPr lang="en-US" b="true" sz="2000" u="sng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  <a:hlinkClick r:id="rId4" tooltip="https://bibbase.org/network/publication/khalil-k-nonlinearsystems-2002"/>
                </a:rPr>
                <a:t>onlinear systems.</a:t>
              </a:r>
              <a:r>
                <a:rPr lang="en-US" b="true" sz="2000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 Khalil &amp; K, H. Prentice Hall, Upper Saddle River, N.J., 2002.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3714196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Reference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09575"/>
              <a:ext cx="3714196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3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343400" y="3205760"/>
            <a:ext cx="138677" cy="13867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3205760"/>
            <a:ext cx="138677" cy="13867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20000" y="3205760"/>
            <a:ext cx="138677" cy="13867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598662" y="3205760"/>
            <a:ext cx="138677" cy="13867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173200" y="3205760"/>
            <a:ext cx="138677" cy="138677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0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098038" y="3270336"/>
            <a:ext cx="17396401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0668000" y="3630753"/>
            <a:ext cx="3314700" cy="5184773"/>
            <a:chOff x="0" y="0"/>
            <a:chExt cx="4419600" cy="6913031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095375"/>
              <a:ext cx="4419600" cy="58176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00"/>
                </a:lnSpc>
              </a:pPr>
              <a:r>
                <a:rPr lang="en-US" b="true" sz="2000" u="sng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  <a:hlinkClick r:id="rId5" tooltip="https://bibbase.org/network/publication/khalil-k-nonlinearsystems-2002"/>
                </a:rPr>
                <a:t>Yuqua</a:t>
              </a:r>
              <a:r>
                <a:rPr lang="en-US" b="true" sz="2000" u="sng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  <a:hlinkClick r:id="rId6" tooltip="https://bibbase.org/network/publication/khalil-k-nonlinearsystems-2002"/>
                </a:rPr>
                <a:t>n Wang, Niels Dehio, and Abderrahmane Kheddar, “On Inverse Inertia Matrix and Contact-Force Model for Robotic Manipulators at Normal Impacts,” IEEE Robotics and Automation Letters, vol. 7, no. 2, pp. 3648–3655, Apr. 2022. DOI: 10.1109/LRA.2022.3145967.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0"/>
              <a:ext cx="3989322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Reference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409575"/>
              <a:ext cx="3989322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4173200" y="3630753"/>
            <a:ext cx="2991991" cy="619125"/>
            <a:chOff x="0" y="0"/>
            <a:chExt cx="3989322" cy="825500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0"/>
              <a:ext cx="3989322" cy="40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000000"/>
                  </a:solidFill>
                  <a:latin typeface="Libre Baskerville Italics"/>
                  <a:ea typeface="Libre Baskerville Italics"/>
                  <a:cs typeface="Libre Baskerville Italics"/>
                  <a:sym typeface="Libre Baskerville Italics"/>
                </a:rPr>
                <a:t>Reference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409575"/>
              <a:ext cx="3989322" cy="415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T Commons Pro Bold"/>
                  <a:ea typeface="TT Commons Pro Bold"/>
                  <a:cs typeface="TT Commons Pro Bold"/>
                  <a:sym typeface="TT Commons Pro Bold"/>
                </a:rPr>
                <a:t>5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4173200" y="4359554"/>
            <a:ext cx="3627837" cy="4055922"/>
          </a:xfrm>
          <a:custGeom>
            <a:avLst/>
            <a:gdLst/>
            <a:ahLst/>
            <a:cxnLst/>
            <a:rect r="r" b="b" t="t" l="l"/>
            <a:pathLst>
              <a:path h="4055922" w="3627837">
                <a:moveTo>
                  <a:pt x="0" y="0"/>
                </a:moveTo>
                <a:lnTo>
                  <a:pt x="3627837" y="0"/>
                </a:lnTo>
                <a:lnTo>
                  <a:pt x="3627837" y="4055922"/>
                </a:lnTo>
                <a:lnTo>
                  <a:pt x="0" y="40559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DAGl8injWL8</dc:identifier>
  <dcterms:modified xsi:type="dcterms:W3CDTF">2011-08-01T06:04:30Z</dcterms:modified>
  <cp:revision>1</cp:revision>
  <dc:title>Stack balancing Robot</dc:title>
</cp:coreProperties>
</file>